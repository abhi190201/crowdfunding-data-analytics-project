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DM Sans" panose="020F0502020204030204" pitchFamily="2" charset="0"/>
      <p:regular r:id="rId19"/>
    </p:embeddedFont>
    <p:embeddedFont>
      <p:font typeface="DM Sans Bold" panose="020B0604020202020204" charset="0"/>
      <p:regular r:id="rId20"/>
    </p:embeddedFont>
    <p:embeddedFont>
      <p:font typeface="Moontime" panose="020B0604020202020204" charset="0"/>
      <p:regular r:id="rId21"/>
    </p:embeddedFont>
    <p:embeddedFont>
      <p:font typeface="Raleway Medium" panose="020F0502020204030204" pitchFamily="2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7484" autoAdjust="0"/>
  </p:normalViewPr>
  <p:slideViewPr>
    <p:cSldViewPr>
      <p:cViewPr varScale="1">
        <p:scale>
          <a:sx n="50" d="100"/>
          <a:sy n="50" d="100"/>
        </p:scale>
        <p:origin x="94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3F29-67FD-4533-BAA0-88E0F04D459B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C4F5C-D22F-4247-82B3-8F0CF8B156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30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C4F5C-D22F-4247-82B3-8F0CF8B1560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429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svg"/><Relationship Id="rId7" Type="http://schemas.openxmlformats.org/officeDocument/2006/relationships/image" Target="../media/image48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sv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svg"/><Relationship Id="rId18" Type="http://schemas.openxmlformats.org/officeDocument/2006/relationships/image" Target="../media/image29.png"/><Relationship Id="rId26" Type="http://schemas.openxmlformats.org/officeDocument/2006/relationships/image" Target="../media/image86.svg"/><Relationship Id="rId3" Type="http://schemas.openxmlformats.org/officeDocument/2006/relationships/image" Target="../media/image64.svg"/><Relationship Id="rId21" Type="http://schemas.openxmlformats.org/officeDocument/2006/relationships/image" Target="../media/image81.png"/><Relationship Id="rId7" Type="http://schemas.openxmlformats.org/officeDocument/2006/relationships/image" Target="../media/image68.svg"/><Relationship Id="rId12" Type="http://schemas.openxmlformats.org/officeDocument/2006/relationships/image" Target="../media/image73.png"/><Relationship Id="rId17" Type="http://schemas.openxmlformats.org/officeDocument/2006/relationships/image" Target="../media/image78.svg"/><Relationship Id="rId25" Type="http://schemas.openxmlformats.org/officeDocument/2006/relationships/image" Target="../media/image85.png"/><Relationship Id="rId2" Type="http://schemas.openxmlformats.org/officeDocument/2006/relationships/image" Target="../media/image63.png"/><Relationship Id="rId16" Type="http://schemas.openxmlformats.org/officeDocument/2006/relationships/image" Target="../media/image77.png"/><Relationship Id="rId20" Type="http://schemas.openxmlformats.org/officeDocument/2006/relationships/image" Target="../media/image8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svg"/><Relationship Id="rId24" Type="http://schemas.openxmlformats.org/officeDocument/2006/relationships/image" Target="../media/image84.svg"/><Relationship Id="rId5" Type="http://schemas.openxmlformats.org/officeDocument/2006/relationships/image" Target="../media/image66.svg"/><Relationship Id="rId15" Type="http://schemas.openxmlformats.org/officeDocument/2006/relationships/image" Target="../media/image76.svg"/><Relationship Id="rId23" Type="http://schemas.openxmlformats.org/officeDocument/2006/relationships/image" Target="../media/image83.png"/><Relationship Id="rId10" Type="http://schemas.openxmlformats.org/officeDocument/2006/relationships/image" Target="../media/image71.png"/><Relationship Id="rId19" Type="http://schemas.openxmlformats.org/officeDocument/2006/relationships/image" Target="../media/image79.png"/><Relationship Id="rId4" Type="http://schemas.openxmlformats.org/officeDocument/2006/relationships/image" Target="../media/image65.png"/><Relationship Id="rId9" Type="http://schemas.openxmlformats.org/officeDocument/2006/relationships/image" Target="../media/image70.svg"/><Relationship Id="rId14" Type="http://schemas.openxmlformats.org/officeDocument/2006/relationships/image" Target="../media/image75.png"/><Relationship Id="rId22" Type="http://schemas.openxmlformats.org/officeDocument/2006/relationships/image" Target="../media/image8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svg"/><Relationship Id="rId3" Type="http://schemas.openxmlformats.org/officeDocument/2006/relationships/image" Target="../media/image88.svg"/><Relationship Id="rId7" Type="http://schemas.openxmlformats.org/officeDocument/2006/relationships/image" Target="../media/image92.svg"/><Relationship Id="rId12" Type="http://schemas.openxmlformats.org/officeDocument/2006/relationships/image" Target="../media/image97.png"/><Relationship Id="rId17" Type="http://schemas.openxmlformats.org/officeDocument/2006/relationships/image" Target="../media/image102.svg"/><Relationship Id="rId2" Type="http://schemas.openxmlformats.org/officeDocument/2006/relationships/image" Target="../media/image87.png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6.svg"/><Relationship Id="rId5" Type="http://schemas.openxmlformats.org/officeDocument/2006/relationships/image" Target="../media/image90.svg"/><Relationship Id="rId15" Type="http://schemas.openxmlformats.org/officeDocument/2006/relationships/image" Target="../media/image100.sv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svg"/><Relationship Id="rId14" Type="http://schemas.openxmlformats.org/officeDocument/2006/relationships/image" Target="../media/image9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sv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6.svg"/><Relationship Id="rId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" y="0"/>
            <a:ext cx="10929721" cy="10172700"/>
          </a:xfrm>
          <a:custGeom>
            <a:avLst/>
            <a:gdLst/>
            <a:ahLst/>
            <a:cxnLst/>
            <a:rect l="l" t="t" r="r" b="b"/>
            <a:pathLst>
              <a:path w="11853512" h="11853512">
                <a:moveTo>
                  <a:pt x="0" y="0"/>
                </a:moveTo>
                <a:lnTo>
                  <a:pt x="11853513" y="0"/>
                </a:lnTo>
                <a:lnTo>
                  <a:pt x="11853513" y="11853512"/>
                </a:lnTo>
                <a:lnTo>
                  <a:pt x="0" y="118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29722" y="0"/>
            <a:ext cx="5746778" cy="6258867"/>
          </a:xfrm>
          <a:custGeom>
            <a:avLst/>
            <a:gdLst/>
            <a:ahLst/>
            <a:cxnLst/>
            <a:rect l="l" t="t" r="r" b="b"/>
            <a:pathLst>
              <a:path w="5746778" h="6258867">
                <a:moveTo>
                  <a:pt x="0" y="0"/>
                </a:moveTo>
                <a:lnTo>
                  <a:pt x="5746778" y="0"/>
                </a:lnTo>
                <a:lnTo>
                  <a:pt x="5746778" y="6258867"/>
                </a:lnTo>
                <a:lnTo>
                  <a:pt x="0" y="6258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" y="8870202"/>
            <a:ext cx="10929724" cy="1416798"/>
          </a:xfrm>
          <a:custGeom>
            <a:avLst/>
            <a:gdLst/>
            <a:ahLst/>
            <a:cxnLst/>
            <a:rect l="l" t="t" r="r" b="b"/>
            <a:pathLst>
              <a:path w="10929722" h="1416798">
                <a:moveTo>
                  <a:pt x="0" y="0"/>
                </a:moveTo>
                <a:lnTo>
                  <a:pt x="10929722" y="0"/>
                </a:lnTo>
                <a:lnTo>
                  <a:pt x="10929722" y="1416798"/>
                </a:lnTo>
                <a:lnTo>
                  <a:pt x="0" y="14167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32745" b="-588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843114"/>
            <a:ext cx="11535675" cy="4444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1376"/>
              </a:lnSpc>
            </a:pPr>
            <a:r>
              <a:rPr lang="en-US" sz="12640" b="1" spc="-581" dirty="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Kickstarter Crowdfunding 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F795D4-95C1-5125-6190-5BBA54EC8AEF}"/>
              </a:ext>
            </a:extLst>
          </p:cNvPr>
          <p:cNvSpPr/>
          <p:nvPr/>
        </p:nvSpPr>
        <p:spPr>
          <a:xfrm>
            <a:off x="11125200" y="6708306"/>
            <a:ext cx="7010400" cy="2743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i="1" dirty="0"/>
              <a:t>BY</a:t>
            </a:r>
            <a:r>
              <a:rPr lang="en-US" sz="5400" dirty="0"/>
              <a:t>:  </a:t>
            </a:r>
            <a:r>
              <a:rPr lang="en-US" sz="5400" i="1" dirty="0"/>
              <a:t>Abhishek Deshmukh</a:t>
            </a:r>
            <a:endParaRPr lang="en-IN" sz="5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8128605" y="952500"/>
            <a:ext cx="8509645" cy="8382000"/>
          </a:xfrm>
          <a:custGeom>
            <a:avLst/>
            <a:gdLst/>
            <a:ahLst/>
            <a:cxnLst/>
            <a:rect l="l" t="t" r="r" b="b"/>
            <a:pathLst>
              <a:path w="8509645" h="8382000">
                <a:moveTo>
                  <a:pt x="0" y="0"/>
                </a:moveTo>
                <a:lnTo>
                  <a:pt x="8509645" y="0"/>
                </a:lnTo>
                <a:lnTo>
                  <a:pt x="8509645" y="8382000"/>
                </a:lnTo>
                <a:lnTo>
                  <a:pt x="0" y="838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076359" y="721632"/>
            <a:ext cx="614136" cy="61413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75D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u="none" strike="noStrik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771318" y="8354176"/>
            <a:ext cx="614136" cy="61413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u="none" strike="noStrik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045501" y="8518544"/>
            <a:ext cx="614136" cy="61413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C27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 u="none" strike="noStrik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891700" y="3452495"/>
            <a:ext cx="3046876" cy="349006"/>
          </a:xfrm>
          <a:custGeom>
            <a:avLst/>
            <a:gdLst/>
            <a:ahLst/>
            <a:cxnLst/>
            <a:rect l="l" t="t" r="r" b="b"/>
            <a:pathLst>
              <a:path w="3046876" h="349006">
                <a:moveTo>
                  <a:pt x="0" y="0"/>
                </a:moveTo>
                <a:lnTo>
                  <a:pt x="3046877" y="0"/>
                </a:lnTo>
                <a:lnTo>
                  <a:pt x="3046877" y="349006"/>
                </a:lnTo>
                <a:lnTo>
                  <a:pt x="0" y="349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52500" y="9142732"/>
            <a:ext cx="3046876" cy="349006"/>
          </a:xfrm>
          <a:custGeom>
            <a:avLst/>
            <a:gdLst/>
            <a:ahLst/>
            <a:cxnLst/>
            <a:rect l="l" t="t" r="r" b="b"/>
            <a:pathLst>
              <a:path w="3046876" h="349006">
                <a:moveTo>
                  <a:pt x="0" y="0"/>
                </a:moveTo>
                <a:lnTo>
                  <a:pt x="3046876" y="0"/>
                </a:lnTo>
                <a:lnTo>
                  <a:pt x="3046876" y="349006"/>
                </a:lnTo>
                <a:lnTo>
                  <a:pt x="0" y="349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829131" y="7598607"/>
            <a:ext cx="3046876" cy="349006"/>
          </a:xfrm>
          <a:custGeom>
            <a:avLst/>
            <a:gdLst/>
            <a:ahLst/>
            <a:cxnLst/>
            <a:rect l="l" t="t" r="r" b="b"/>
            <a:pathLst>
              <a:path w="3046876" h="349006">
                <a:moveTo>
                  <a:pt x="0" y="0"/>
                </a:moveTo>
                <a:lnTo>
                  <a:pt x="3046876" y="0"/>
                </a:lnTo>
                <a:lnTo>
                  <a:pt x="3046876" y="349006"/>
                </a:lnTo>
                <a:lnTo>
                  <a:pt x="0" y="349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554947" y="7598607"/>
            <a:ext cx="3046876" cy="349006"/>
          </a:xfrm>
          <a:custGeom>
            <a:avLst/>
            <a:gdLst/>
            <a:ahLst/>
            <a:cxnLst/>
            <a:rect l="l" t="t" r="r" b="b"/>
            <a:pathLst>
              <a:path w="3046876" h="349006">
                <a:moveTo>
                  <a:pt x="0" y="0"/>
                </a:moveTo>
                <a:lnTo>
                  <a:pt x="3046877" y="0"/>
                </a:lnTo>
                <a:lnTo>
                  <a:pt x="3046877" y="349006"/>
                </a:lnTo>
                <a:lnTo>
                  <a:pt x="0" y="3490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891700" y="1695258"/>
            <a:ext cx="3046876" cy="1943484"/>
            <a:chOff x="0" y="0"/>
            <a:chExt cx="802470" cy="5118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02470" cy="511864"/>
            </a:xfrm>
            <a:custGeom>
              <a:avLst/>
              <a:gdLst/>
              <a:ahLst/>
              <a:cxnLst/>
              <a:rect l="l" t="t" r="r" b="b"/>
              <a:pathLst>
                <a:path w="802470" h="511864">
                  <a:moveTo>
                    <a:pt x="66064" y="0"/>
                  </a:moveTo>
                  <a:lnTo>
                    <a:pt x="736405" y="0"/>
                  </a:lnTo>
                  <a:cubicBezTo>
                    <a:pt x="772891" y="0"/>
                    <a:pt x="802470" y="29578"/>
                    <a:pt x="802470" y="66064"/>
                  </a:cubicBezTo>
                  <a:lnTo>
                    <a:pt x="802470" y="445800"/>
                  </a:lnTo>
                  <a:cubicBezTo>
                    <a:pt x="802470" y="482286"/>
                    <a:pt x="772891" y="511864"/>
                    <a:pt x="736405" y="511864"/>
                  </a:cubicBezTo>
                  <a:lnTo>
                    <a:pt x="66064" y="511864"/>
                  </a:lnTo>
                  <a:cubicBezTo>
                    <a:pt x="48543" y="511864"/>
                    <a:pt x="31739" y="504904"/>
                    <a:pt x="19350" y="492514"/>
                  </a:cubicBezTo>
                  <a:cubicBezTo>
                    <a:pt x="6960" y="480125"/>
                    <a:pt x="0" y="463321"/>
                    <a:pt x="0" y="445800"/>
                  </a:cubicBezTo>
                  <a:lnTo>
                    <a:pt x="0" y="66064"/>
                  </a:lnTo>
                  <a:cubicBezTo>
                    <a:pt x="0" y="48543"/>
                    <a:pt x="6960" y="31739"/>
                    <a:pt x="19350" y="19350"/>
                  </a:cubicBezTo>
                  <a:cubicBezTo>
                    <a:pt x="31739" y="6960"/>
                    <a:pt x="48543" y="0"/>
                    <a:pt x="66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02470" cy="549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829131" y="5841370"/>
            <a:ext cx="3046876" cy="1943484"/>
            <a:chOff x="0" y="0"/>
            <a:chExt cx="802470" cy="5118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02470" cy="511864"/>
            </a:xfrm>
            <a:custGeom>
              <a:avLst/>
              <a:gdLst/>
              <a:ahLst/>
              <a:cxnLst/>
              <a:rect l="l" t="t" r="r" b="b"/>
              <a:pathLst>
                <a:path w="802470" h="511864">
                  <a:moveTo>
                    <a:pt x="66064" y="0"/>
                  </a:moveTo>
                  <a:lnTo>
                    <a:pt x="736405" y="0"/>
                  </a:lnTo>
                  <a:cubicBezTo>
                    <a:pt x="772891" y="0"/>
                    <a:pt x="802470" y="29578"/>
                    <a:pt x="802470" y="66064"/>
                  </a:cubicBezTo>
                  <a:lnTo>
                    <a:pt x="802470" y="445800"/>
                  </a:lnTo>
                  <a:cubicBezTo>
                    <a:pt x="802470" y="482286"/>
                    <a:pt x="772891" y="511864"/>
                    <a:pt x="736405" y="511864"/>
                  </a:cubicBezTo>
                  <a:lnTo>
                    <a:pt x="66064" y="511864"/>
                  </a:lnTo>
                  <a:cubicBezTo>
                    <a:pt x="48543" y="511864"/>
                    <a:pt x="31739" y="504904"/>
                    <a:pt x="19350" y="492514"/>
                  </a:cubicBezTo>
                  <a:cubicBezTo>
                    <a:pt x="6960" y="480125"/>
                    <a:pt x="0" y="463321"/>
                    <a:pt x="0" y="445800"/>
                  </a:cubicBezTo>
                  <a:lnTo>
                    <a:pt x="0" y="66064"/>
                  </a:lnTo>
                  <a:cubicBezTo>
                    <a:pt x="0" y="48543"/>
                    <a:pt x="6960" y="31739"/>
                    <a:pt x="19350" y="19350"/>
                  </a:cubicBezTo>
                  <a:cubicBezTo>
                    <a:pt x="31739" y="6960"/>
                    <a:pt x="48543" y="0"/>
                    <a:pt x="66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02470" cy="549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54947" y="5841370"/>
            <a:ext cx="3046876" cy="1943484"/>
            <a:chOff x="0" y="0"/>
            <a:chExt cx="802470" cy="51186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02470" cy="511864"/>
            </a:xfrm>
            <a:custGeom>
              <a:avLst/>
              <a:gdLst/>
              <a:ahLst/>
              <a:cxnLst/>
              <a:rect l="l" t="t" r="r" b="b"/>
              <a:pathLst>
                <a:path w="802470" h="511864">
                  <a:moveTo>
                    <a:pt x="66064" y="0"/>
                  </a:moveTo>
                  <a:lnTo>
                    <a:pt x="736405" y="0"/>
                  </a:lnTo>
                  <a:cubicBezTo>
                    <a:pt x="772891" y="0"/>
                    <a:pt x="802470" y="29578"/>
                    <a:pt x="802470" y="66064"/>
                  </a:cubicBezTo>
                  <a:lnTo>
                    <a:pt x="802470" y="445800"/>
                  </a:lnTo>
                  <a:cubicBezTo>
                    <a:pt x="802470" y="482286"/>
                    <a:pt x="772891" y="511864"/>
                    <a:pt x="736405" y="511864"/>
                  </a:cubicBezTo>
                  <a:lnTo>
                    <a:pt x="66064" y="511864"/>
                  </a:lnTo>
                  <a:cubicBezTo>
                    <a:pt x="48543" y="511864"/>
                    <a:pt x="31739" y="504904"/>
                    <a:pt x="19350" y="492514"/>
                  </a:cubicBezTo>
                  <a:cubicBezTo>
                    <a:pt x="6960" y="480125"/>
                    <a:pt x="0" y="463321"/>
                    <a:pt x="0" y="445800"/>
                  </a:cubicBezTo>
                  <a:lnTo>
                    <a:pt x="0" y="66064"/>
                  </a:lnTo>
                  <a:cubicBezTo>
                    <a:pt x="0" y="48543"/>
                    <a:pt x="6960" y="31739"/>
                    <a:pt x="19350" y="19350"/>
                  </a:cubicBezTo>
                  <a:cubicBezTo>
                    <a:pt x="31739" y="6960"/>
                    <a:pt x="48543" y="0"/>
                    <a:pt x="66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02470" cy="549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1496819" y="4619645"/>
            <a:ext cx="1773217" cy="1773217"/>
          </a:xfrm>
          <a:custGeom>
            <a:avLst/>
            <a:gdLst/>
            <a:ahLst/>
            <a:cxnLst/>
            <a:rect l="l" t="t" r="r" b="b"/>
            <a:pathLst>
              <a:path w="1773217" h="1773217">
                <a:moveTo>
                  <a:pt x="0" y="0"/>
                </a:moveTo>
                <a:lnTo>
                  <a:pt x="1773217" y="0"/>
                </a:lnTo>
                <a:lnTo>
                  <a:pt x="1773217" y="1773218"/>
                </a:lnTo>
                <a:lnTo>
                  <a:pt x="0" y="17732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1636517" y="4745319"/>
            <a:ext cx="1507566" cy="150756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A2B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2147929" y="5176332"/>
            <a:ext cx="484742" cy="645540"/>
          </a:xfrm>
          <a:custGeom>
            <a:avLst/>
            <a:gdLst/>
            <a:ahLst/>
            <a:cxnLst/>
            <a:rect l="l" t="t" r="r" b="b"/>
            <a:pathLst>
              <a:path w="484742" h="645540">
                <a:moveTo>
                  <a:pt x="0" y="0"/>
                </a:moveTo>
                <a:lnTo>
                  <a:pt x="484742" y="0"/>
                </a:lnTo>
                <a:lnTo>
                  <a:pt x="484742" y="645540"/>
                </a:lnTo>
                <a:lnTo>
                  <a:pt x="0" y="6455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061783" y="6814449"/>
            <a:ext cx="628712" cy="612708"/>
          </a:xfrm>
          <a:custGeom>
            <a:avLst/>
            <a:gdLst/>
            <a:ahLst/>
            <a:cxnLst/>
            <a:rect l="l" t="t" r="r" b="b"/>
            <a:pathLst>
              <a:path w="628712" h="612708">
                <a:moveTo>
                  <a:pt x="0" y="0"/>
                </a:moveTo>
                <a:lnTo>
                  <a:pt x="628712" y="0"/>
                </a:lnTo>
                <a:lnTo>
                  <a:pt x="628712" y="612708"/>
                </a:lnTo>
                <a:lnTo>
                  <a:pt x="0" y="612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0731373" y="4498866"/>
            <a:ext cx="546371" cy="695611"/>
          </a:xfrm>
          <a:custGeom>
            <a:avLst/>
            <a:gdLst/>
            <a:ahLst/>
            <a:cxnLst/>
            <a:rect l="l" t="t" r="r" b="b"/>
            <a:pathLst>
              <a:path w="546371" h="695611">
                <a:moveTo>
                  <a:pt x="0" y="0"/>
                </a:moveTo>
                <a:lnTo>
                  <a:pt x="546371" y="0"/>
                </a:lnTo>
                <a:lnTo>
                  <a:pt x="546371" y="695610"/>
                </a:lnTo>
                <a:lnTo>
                  <a:pt x="0" y="6956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>
            <a:off x="13408805" y="4536966"/>
            <a:ext cx="548821" cy="523875"/>
          </a:xfrm>
          <a:custGeom>
            <a:avLst/>
            <a:gdLst/>
            <a:ahLst/>
            <a:cxnLst/>
            <a:rect l="l" t="t" r="r" b="b"/>
            <a:pathLst>
              <a:path w="548821" h="523875">
                <a:moveTo>
                  <a:pt x="0" y="0"/>
                </a:moveTo>
                <a:lnTo>
                  <a:pt x="548822" y="0"/>
                </a:lnTo>
                <a:lnTo>
                  <a:pt x="548822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3" name="Group 33"/>
          <p:cNvGrpSpPr/>
          <p:nvPr/>
        </p:nvGrpSpPr>
        <p:grpSpPr>
          <a:xfrm>
            <a:off x="817440" y="1834667"/>
            <a:ext cx="5421686" cy="2664199"/>
            <a:chOff x="0" y="0"/>
            <a:chExt cx="7228914" cy="3552265"/>
          </a:xfrm>
        </p:grpSpPr>
        <p:sp>
          <p:nvSpPr>
            <p:cNvPr id="34" name="TextBox 34"/>
            <p:cNvSpPr txBox="1"/>
            <p:nvPr/>
          </p:nvSpPr>
          <p:spPr>
            <a:xfrm>
              <a:off x="0" y="-76200"/>
              <a:ext cx="7228914" cy="8694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31"/>
                </a:lnSpc>
                <a:spcBef>
                  <a:spcPct val="0"/>
                </a:spcBef>
              </a:pPr>
              <a:r>
                <a:rPr lang="en-US" sz="3951" b="1" dirty="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Project Overview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1135951"/>
              <a:ext cx="7228914" cy="2416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19"/>
                </a:lnSpc>
                <a:spcBef>
                  <a:spcPct val="0"/>
                </a:spcBef>
              </a:pPr>
              <a:r>
                <a:rPr lang="en-US" sz="2085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Analysis of historical Kickstarter data to understand why projects succeed or fail.</a:t>
              </a:r>
            </a:p>
            <a:p>
              <a:pPr algn="l">
                <a:lnSpc>
                  <a:spcPts val="2919"/>
                </a:lnSpc>
                <a:spcBef>
                  <a:spcPct val="0"/>
                </a:spcBef>
              </a:pPr>
              <a:r>
                <a:rPr lang="en-US" sz="2085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Focuses on goal amount, category, timing, and other key factors to improve success rates.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362469" y="1657158"/>
            <a:ext cx="210533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299899" y="6160967"/>
            <a:ext cx="210533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34824" y="6160967"/>
            <a:ext cx="2287124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Dataset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351324" y="2120156"/>
            <a:ext cx="4077952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ctr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Many Kickstarter projects fail due to poor goal setting, category choice, and launch timing</a:t>
            </a:r>
          </a:p>
          <a:p>
            <a:pPr marL="345441" lvl="1" indent="-172721" algn="ctr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Creators lack data-driven insights on what drives success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147820" y="6578772"/>
            <a:ext cx="3478451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ctr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u="none" strike="noStrik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Identify key success and failure factors</a:t>
            </a:r>
          </a:p>
          <a:p>
            <a:pPr marL="345441" lvl="1" indent="-172721" algn="ctr">
              <a:lnSpc>
                <a:spcPts val="2240"/>
              </a:lnSpc>
              <a:buFont typeface="Arial"/>
              <a:buChar char="•"/>
            </a:pPr>
            <a:r>
              <a:rPr lang="en-US" sz="1600" u="none" strike="noStrik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actionable insights to improve success rates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97044" y="6578772"/>
            <a:ext cx="3834329" cy="110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ctr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Historical Kickstarter project data</a:t>
            </a:r>
          </a:p>
          <a:p>
            <a:pPr marL="345441" lvl="1" indent="-172721" algn="ctr">
              <a:lnSpc>
                <a:spcPts val="2240"/>
              </a:lnSpc>
              <a:buFont typeface="Arial"/>
              <a:buChar char="•"/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Attributes: category, goal, pledged amount, backers, duration, location, outcome</a:t>
            </a:r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9540" y="3245503"/>
            <a:ext cx="6498636" cy="5116199"/>
          </a:xfrm>
          <a:custGeom>
            <a:avLst/>
            <a:gdLst/>
            <a:ahLst/>
            <a:cxnLst/>
            <a:rect l="l" t="t" r="r" b="b"/>
            <a:pathLst>
              <a:path w="6498636" h="5116199">
                <a:moveTo>
                  <a:pt x="0" y="0"/>
                </a:moveTo>
                <a:lnTo>
                  <a:pt x="6498636" y="0"/>
                </a:lnTo>
                <a:lnTo>
                  <a:pt x="6498636" y="5116199"/>
                </a:lnTo>
                <a:lnTo>
                  <a:pt x="0" y="5116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10389" y="3459379"/>
            <a:ext cx="3362580" cy="820540"/>
          </a:xfrm>
          <a:custGeom>
            <a:avLst/>
            <a:gdLst/>
            <a:ahLst/>
            <a:cxnLst/>
            <a:rect l="l" t="t" r="r" b="b"/>
            <a:pathLst>
              <a:path w="3362580" h="820540">
                <a:moveTo>
                  <a:pt x="0" y="0"/>
                </a:moveTo>
                <a:lnTo>
                  <a:pt x="3362580" y="0"/>
                </a:lnTo>
                <a:lnTo>
                  <a:pt x="3362580" y="820540"/>
                </a:lnTo>
                <a:lnTo>
                  <a:pt x="0" y="820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310719" y="4572739"/>
            <a:ext cx="3362580" cy="820540"/>
          </a:xfrm>
          <a:custGeom>
            <a:avLst/>
            <a:gdLst/>
            <a:ahLst/>
            <a:cxnLst/>
            <a:rect l="l" t="t" r="r" b="b"/>
            <a:pathLst>
              <a:path w="3362580" h="820540">
                <a:moveTo>
                  <a:pt x="0" y="0"/>
                </a:moveTo>
                <a:lnTo>
                  <a:pt x="3362581" y="0"/>
                </a:lnTo>
                <a:lnTo>
                  <a:pt x="3362581" y="820540"/>
                </a:lnTo>
                <a:lnTo>
                  <a:pt x="0" y="8205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11050" y="5686100"/>
            <a:ext cx="3362580" cy="820540"/>
          </a:xfrm>
          <a:custGeom>
            <a:avLst/>
            <a:gdLst/>
            <a:ahLst/>
            <a:cxnLst/>
            <a:rect l="l" t="t" r="r" b="b"/>
            <a:pathLst>
              <a:path w="3362580" h="820540">
                <a:moveTo>
                  <a:pt x="0" y="0"/>
                </a:moveTo>
                <a:lnTo>
                  <a:pt x="3362580" y="0"/>
                </a:lnTo>
                <a:lnTo>
                  <a:pt x="3362580" y="820540"/>
                </a:lnTo>
                <a:lnTo>
                  <a:pt x="0" y="8205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511380" y="6799460"/>
            <a:ext cx="3362580" cy="820540"/>
          </a:xfrm>
          <a:custGeom>
            <a:avLst/>
            <a:gdLst/>
            <a:ahLst/>
            <a:cxnLst/>
            <a:rect l="l" t="t" r="r" b="b"/>
            <a:pathLst>
              <a:path w="3362580" h="820540">
                <a:moveTo>
                  <a:pt x="0" y="0"/>
                </a:moveTo>
                <a:lnTo>
                  <a:pt x="3362580" y="0"/>
                </a:lnTo>
                <a:lnTo>
                  <a:pt x="3362580" y="820540"/>
                </a:lnTo>
                <a:lnTo>
                  <a:pt x="0" y="820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9205809" y="3785234"/>
            <a:ext cx="533910" cy="0"/>
          </a:xfrm>
          <a:prstGeom prst="line">
            <a:avLst/>
          </a:prstGeom>
          <a:ln w="28575" cap="flat">
            <a:solidFill>
              <a:srgbClr val="D6D6E1"/>
            </a:solidFill>
            <a:prstDash val="solid"/>
            <a:headEnd type="oval" w="lg" len="lg"/>
            <a:tailEnd type="triangle" w="lg" len="med"/>
          </a:ln>
        </p:spPr>
      </p:sp>
      <p:sp>
        <p:nvSpPr>
          <p:cNvPr id="8" name="AutoShape 8"/>
          <p:cNvSpPr/>
          <p:nvPr/>
        </p:nvSpPr>
        <p:spPr>
          <a:xfrm>
            <a:off x="9806139" y="4878234"/>
            <a:ext cx="533910" cy="0"/>
          </a:xfrm>
          <a:prstGeom prst="line">
            <a:avLst/>
          </a:prstGeom>
          <a:ln w="28575" cap="flat">
            <a:solidFill>
              <a:srgbClr val="D6D6E1"/>
            </a:solidFill>
            <a:prstDash val="solid"/>
            <a:headEnd type="oval" w="lg" len="lg"/>
            <a:tailEnd type="triangle" w="lg" len="med"/>
          </a:ln>
        </p:spPr>
      </p:sp>
      <p:sp>
        <p:nvSpPr>
          <p:cNvPr id="9" name="AutoShape 9"/>
          <p:cNvSpPr/>
          <p:nvPr/>
        </p:nvSpPr>
        <p:spPr>
          <a:xfrm>
            <a:off x="10406469" y="5971234"/>
            <a:ext cx="533910" cy="0"/>
          </a:xfrm>
          <a:prstGeom prst="line">
            <a:avLst/>
          </a:prstGeom>
          <a:ln w="28575" cap="flat">
            <a:solidFill>
              <a:srgbClr val="D6D6E1"/>
            </a:solidFill>
            <a:prstDash val="solid"/>
            <a:headEnd type="oval" w="lg" len="lg"/>
            <a:tailEnd type="triangle" w="lg" len="med"/>
          </a:ln>
        </p:spPr>
      </p:sp>
      <p:sp>
        <p:nvSpPr>
          <p:cNvPr id="10" name="AutoShape 10"/>
          <p:cNvSpPr/>
          <p:nvPr/>
        </p:nvSpPr>
        <p:spPr>
          <a:xfrm>
            <a:off x="11006800" y="7064234"/>
            <a:ext cx="533910" cy="0"/>
          </a:xfrm>
          <a:prstGeom prst="line">
            <a:avLst/>
          </a:prstGeom>
          <a:ln w="28575" cap="flat">
            <a:solidFill>
              <a:srgbClr val="D6D6E1"/>
            </a:solidFill>
            <a:prstDash val="solid"/>
            <a:headEnd type="oval" w="lg" len="lg"/>
            <a:tailEnd type="triangle" w="lg" len="med"/>
          </a:ln>
        </p:spPr>
      </p:sp>
      <p:sp>
        <p:nvSpPr>
          <p:cNvPr id="11" name="TextBox 11"/>
          <p:cNvSpPr txBox="1"/>
          <p:nvPr/>
        </p:nvSpPr>
        <p:spPr>
          <a:xfrm>
            <a:off x="2070382" y="1156783"/>
            <a:ext cx="12392449" cy="68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6"/>
              </a:lnSpc>
              <a:spcBef>
                <a:spcPct val="0"/>
              </a:spcBef>
            </a:pPr>
            <a:r>
              <a:rPr lang="en-US" sz="396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&amp; Tools 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65616" y="3592471"/>
            <a:ext cx="210533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Excel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17955" y="4705832"/>
            <a:ext cx="2401321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Power BI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73069" y="3605694"/>
            <a:ext cx="5174812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Initial data validation and exploratory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73400" y="4705832"/>
            <a:ext cx="5174812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KPI metrics, interactive dashboards, trend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63665" y="5819192"/>
            <a:ext cx="271056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Tableau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6607" y="6932553"/>
            <a:ext cx="210533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SQL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73730" y="5815342"/>
            <a:ext cx="526864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Advanced visualizations and comparative insights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74060" y="6908342"/>
            <a:ext cx="5174812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extraction, joins, filtering, metric calculations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129540" y="8361702"/>
            <a:ext cx="6498636" cy="590785"/>
          </a:xfrm>
          <a:custGeom>
            <a:avLst/>
            <a:gdLst/>
            <a:ahLst/>
            <a:cxnLst/>
            <a:rect l="l" t="t" r="r" b="b"/>
            <a:pathLst>
              <a:path w="6498636" h="590785">
                <a:moveTo>
                  <a:pt x="0" y="0"/>
                </a:moveTo>
                <a:lnTo>
                  <a:pt x="6498636" y="0"/>
                </a:lnTo>
                <a:lnTo>
                  <a:pt x="6498636" y="590785"/>
                </a:lnTo>
                <a:lnTo>
                  <a:pt x="0" y="5907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8000"/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379417" y="8847477"/>
            <a:ext cx="12268795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Raw Data → Cleaning → Transformation → Analysis → Visualization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3529334"/>
            <a:ext cx="5095053" cy="3037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Excel</a:t>
            </a:r>
          </a:p>
          <a:p>
            <a:pPr algn="ctr">
              <a:lnSpc>
                <a:spcPts val="10220"/>
              </a:lnSpc>
            </a:pPr>
            <a:r>
              <a:rPr lang="en-US" sz="73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81A29-D1C4-6ACE-4362-11AB0683E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571500"/>
            <a:ext cx="12496800" cy="937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97251" y="2981347"/>
            <a:ext cx="5293498" cy="4944885"/>
            <a:chOff x="0" y="0"/>
            <a:chExt cx="1394172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038FC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2304" y="2981347"/>
            <a:ext cx="5293498" cy="4944885"/>
            <a:chOff x="0" y="0"/>
            <a:chExt cx="1394172" cy="13023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A9DFD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62199" y="2981347"/>
            <a:ext cx="5293498" cy="4944885"/>
            <a:chOff x="0" y="0"/>
            <a:chExt cx="1394172" cy="13023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00200" y="1634442"/>
            <a:ext cx="3819358" cy="856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71075" y="1639972"/>
            <a:ext cx="394585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64012" y="1627230"/>
            <a:ext cx="4904115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Disadvantages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165853"/>
            <a:ext cx="5297101" cy="455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Manual fixes caused cascading errors during data cleaning</a:t>
            </a:r>
          </a:p>
          <a:p>
            <a:pPr algn="l">
              <a:lnSpc>
                <a:spcPts val="3639"/>
              </a:lnSpc>
            </a:pPr>
            <a:endParaRPr lang="en-US" sz="2599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Timestamp-to-date conversion required complex formulas</a:t>
            </a:r>
          </a:p>
          <a:p>
            <a:pPr algn="l">
              <a:lnSpc>
                <a:spcPts val="3639"/>
              </a:lnSpc>
            </a:pPr>
            <a:endParaRPr lang="en-US" sz="2599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Excel performance degraded with large datasets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97251" y="3394453"/>
            <a:ext cx="5293498" cy="409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Easy visual inspection to quickly identify obvious errors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Familiar interface ideal for initial data exploration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Fast insights using pivot tables and basic charts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56890" y="3690311"/>
            <a:ext cx="4904114" cy="226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Poor performance with large datasets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High risk of accidental formula or data changes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890304" y="-15850"/>
            <a:ext cx="11933016" cy="139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1"/>
              </a:lnSpc>
            </a:pPr>
            <a:r>
              <a:rPr lang="en-US" sz="817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Power 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03C90-D2B3-0F36-5795-AF3C867CA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7901"/>
            <a:ext cx="17068800" cy="8337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97251" y="2981347"/>
            <a:ext cx="5293498" cy="4944885"/>
            <a:chOff x="0" y="0"/>
            <a:chExt cx="1394172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ECC33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2304" y="2981347"/>
            <a:ext cx="5293498" cy="4944885"/>
            <a:chOff x="0" y="0"/>
            <a:chExt cx="1394172" cy="13023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1675D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62199" y="2981347"/>
            <a:ext cx="5293498" cy="4944885"/>
            <a:chOff x="0" y="0"/>
            <a:chExt cx="1394172" cy="13023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8CC64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76400" y="1636753"/>
            <a:ext cx="3624501" cy="854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86600" y="1627230"/>
            <a:ext cx="379345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75940" y="1627230"/>
            <a:ext cx="4709422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Disadvantages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2304" y="3372647"/>
            <a:ext cx="5297101" cy="4096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Steep DAX learning curve, especially filter context</a:t>
            </a:r>
          </a:p>
          <a:p>
            <a:pPr algn="l">
              <a:lnSpc>
                <a:spcPts val="3639"/>
              </a:lnSpc>
            </a:pPr>
            <a:endParaRPr lang="en-US" sz="2599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Incorrect data relationships can break visuals</a:t>
            </a:r>
          </a:p>
          <a:p>
            <a:pPr algn="l">
              <a:lnSpc>
                <a:spcPts val="3639"/>
              </a:lnSpc>
            </a:pPr>
            <a:endParaRPr lang="en-US" sz="2599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depends on the model and calculation design</a:t>
            </a:r>
          </a:p>
          <a:p>
            <a:pPr algn="l">
              <a:lnSpc>
                <a:spcPts val="3639"/>
              </a:lnSpc>
            </a:pPr>
            <a:endParaRPr lang="en-US" sz="2599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97251" y="3144047"/>
            <a:ext cx="5293498" cy="455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Highly interactive dashboards with slicers and filters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Handles large datasets better than Excel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Easy integration with SQL, Excel, and other sources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156890" y="3144047"/>
            <a:ext cx="4904114" cy="455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 direct data editing; fixes require model updates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Paid license needed for sharing and collaboration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Strong dependency on clean, well-modeled data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890304" y="-15850"/>
            <a:ext cx="11933016" cy="139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1"/>
              </a:lnSpc>
            </a:pPr>
            <a:r>
              <a:rPr lang="en-US" sz="817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Tableau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44267B-1C1B-59C6-CDC3-0FB53676B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28204"/>
            <a:ext cx="17145000" cy="8463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97251" y="2981347"/>
            <a:ext cx="5293498" cy="4944885"/>
            <a:chOff x="0" y="0"/>
            <a:chExt cx="1394172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2304" y="2981347"/>
            <a:ext cx="5293498" cy="4944885"/>
            <a:chOff x="0" y="0"/>
            <a:chExt cx="1394172" cy="13023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01C89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62199" y="2981347"/>
            <a:ext cx="5293498" cy="4944885"/>
            <a:chOff x="0" y="0"/>
            <a:chExt cx="1394172" cy="13023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038FC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76400" y="1635961"/>
            <a:ext cx="3624501" cy="854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47275" y="1627230"/>
            <a:ext cx="379345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54236" y="1627230"/>
            <a:ext cx="4709422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Disadvantages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2304" y="2937410"/>
            <a:ext cx="5293498" cy="546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0957" lvl="1" indent="-280479" algn="l">
              <a:lnSpc>
                <a:spcPts val="3637"/>
              </a:lnSpc>
              <a:buFont typeface="Arial"/>
              <a:buChar char="•"/>
            </a:pPr>
            <a:r>
              <a:rPr lang="en-US" sz="2598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Requires very clean data; formatting issues break visuals</a:t>
            </a:r>
          </a:p>
          <a:p>
            <a:pPr algn="l">
              <a:lnSpc>
                <a:spcPts val="3637"/>
              </a:lnSpc>
            </a:pPr>
            <a:endParaRPr lang="en-US" sz="2598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0957" lvl="1" indent="-280479" algn="l">
              <a:lnSpc>
                <a:spcPts val="3637"/>
              </a:lnSpc>
              <a:buFont typeface="Arial"/>
              <a:buChar char="•"/>
            </a:pPr>
            <a:r>
              <a:rPr lang="en-US" sz="2598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Calculated Fields and LOD expressions have a learning curve</a:t>
            </a:r>
          </a:p>
          <a:p>
            <a:pPr algn="l">
              <a:lnSpc>
                <a:spcPts val="3637"/>
              </a:lnSpc>
            </a:pPr>
            <a:endParaRPr lang="en-US" sz="2598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0957" lvl="1" indent="-280479" algn="l">
              <a:lnSpc>
                <a:spcPts val="3637"/>
              </a:lnSpc>
              <a:buFont typeface="Arial"/>
              <a:buChar char="•"/>
            </a:pPr>
            <a:r>
              <a:rPr lang="en-US" sz="2598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Limited layout control makes dashboard alignment time-consuming</a:t>
            </a:r>
          </a:p>
          <a:p>
            <a:pPr algn="l">
              <a:lnSpc>
                <a:spcPts val="3637"/>
              </a:lnSpc>
            </a:pPr>
            <a:endParaRPr lang="en-US" sz="2598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97251" y="3144047"/>
            <a:ext cx="5293498" cy="455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Story feature enables step-by-step business storytelling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Performs well with large datasets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Fast drag-and-drop visual creation with interactive actions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156890" y="3144047"/>
            <a:ext cx="4904114" cy="455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Large workbook files make sharing difficult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Complex calculations less flexible than Power BI (DAX)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Dashboards may not scale perfectly across screen sizes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73801" y="6824717"/>
            <a:ext cx="5382060" cy="2433583"/>
          </a:xfrm>
          <a:custGeom>
            <a:avLst/>
            <a:gdLst/>
            <a:ahLst/>
            <a:cxnLst/>
            <a:rect l="l" t="t" r="r" b="b"/>
            <a:pathLst>
              <a:path w="5382060" h="2433583">
                <a:moveTo>
                  <a:pt x="0" y="0"/>
                </a:moveTo>
                <a:lnTo>
                  <a:pt x="5382060" y="0"/>
                </a:lnTo>
                <a:lnTo>
                  <a:pt x="5382060" y="2433583"/>
                </a:lnTo>
                <a:lnTo>
                  <a:pt x="0" y="2433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516" t="-60998" r="-2612" b="-770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3295" y="5961750"/>
            <a:ext cx="3983282" cy="3296550"/>
          </a:xfrm>
          <a:custGeom>
            <a:avLst/>
            <a:gdLst/>
            <a:ahLst/>
            <a:cxnLst/>
            <a:rect l="l" t="t" r="r" b="b"/>
            <a:pathLst>
              <a:path w="3983282" h="3296550">
                <a:moveTo>
                  <a:pt x="0" y="0"/>
                </a:moveTo>
                <a:lnTo>
                  <a:pt x="3983282" y="0"/>
                </a:lnTo>
                <a:lnTo>
                  <a:pt x="3983282" y="3296550"/>
                </a:lnTo>
                <a:lnTo>
                  <a:pt x="0" y="3296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87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66923" y="1777196"/>
            <a:ext cx="3123165" cy="1015360"/>
          </a:xfrm>
          <a:custGeom>
            <a:avLst/>
            <a:gdLst/>
            <a:ahLst/>
            <a:cxnLst/>
            <a:rect l="l" t="t" r="r" b="b"/>
            <a:pathLst>
              <a:path w="3123165" h="1015360">
                <a:moveTo>
                  <a:pt x="0" y="0"/>
                </a:moveTo>
                <a:lnTo>
                  <a:pt x="3123165" y="0"/>
                </a:lnTo>
                <a:lnTo>
                  <a:pt x="3123165" y="1015360"/>
                </a:lnTo>
                <a:lnTo>
                  <a:pt x="0" y="1015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2202" t="-42573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10548766" y="1777196"/>
            <a:ext cx="7251885" cy="3892452"/>
          </a:xfrm>
          <a:custGeom>
            <a:avLst/>
            <a:gdLst/>
            <a:ahLst/>
            <a:cxnLst/>
            <a:rect l="l" t="t" r="r" b="b"/>
            <a:pathLst>
              <a:path w="7251885" h="3892452">
                <a:moveTo>
                  <a:pt x="0" y="0"/>
                </a:moveTo>
                <a:lnTo>
                  <a:pt x="7251886" y="0"/>
                </a:lnTo>
                <a:lnTo>
                  <a:pt x="7251886" y="3892452"/>
                </a:lnTo>
                <a:lnTo>
                  <a:pt x="0" y="3892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782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1994" y="1777196"/>
            <a:ext cx="2703461" cy="923192"/>
          </a:xfrm>
          <a:custGeom>
            <a:avLst/>
            <a:gdLst/>
            <a:ahLst/>
            <a:cxnLst/>
            <a:rect l="l" t="t" r="r" b="b"/>
            <a:pathLst>
              <a:path w="2703461" h="923192">
                <a:moveTo>
                  <a:pt x="0" y="0"/>
                </a:moveTo>
                <a:lnTo>
                  <a:pt x="2703462" y="0"/>
                </a:lnTo>
                <a:lnTo>
                  <a:pt x="2703462" y="923192"/>
                </a:lnTo>
                <a:lnTo>
                  <a:pt x="0" y="9231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887" t="-46210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373801" y="5835019"/>
            <a:ext cx="3260097" cy="879286"/>
          </a:xfrm>
          <a:custGeom>
            <a:avLst/>
            <a:gdLst/>
            <a:ahLst/>
            <a:cxnLst/>
            <a:rect l="l" t="t" r="r" b="b"/>
            <a:pathLst>
              <a:path w="3260097" h="879286">
                <a:moveTo>
                  <a:pt x="0" y="0"/>
                </a:moveTo>
                <a:lnTo>
                  <a:pt x="3260097" y="0"/>
                </a:lnTo>
                <a:lnTo>
                  <a:pt x="3260097" y="879286"/>
                </a:lnTo>
                <a:lnTo>
                  <a:pt x="0" y="8792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4005" t="-49591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19781" y="5803672"/>
            <a:ext cx="3589279" cy="3454628"/>
          </a:xfrm>
          <a:custGeom>
            <a:avLst/>
            <a:gdLst/>
            <a:ahLst/>
            <a:cxnLst/>
            <a:rect l="l" t="t" r="r" b="b"/>
            <a:pathLst>
              <a:path w="3589279" h="3454628">
                <a:moveTo>
                  <a:pt x="0" y="0"/>
                </a:moveTo>
                <a:lnTo>
                  <a:pt x="3589279" y="0"/>
                </a:lnTo>
                <a:lnTo>
                  <a:pt x="3589279" y="3454628"/>
                </a:lnTo>
                <a:lnTo>
                  <a:pt x="0" y="34546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4030" t="-6074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731555" y="1777196"/>
            <a:ext cx="3655286" cy="4057823"/>
          </a:xfrm>
          <a:custGeom>
            <a:avLst/>
            <a:gdLst/>
            <a:ahLst/>
            <a:cxnLst/>
            <a:rect l="l" t="t" r="r" b="b"/>
            <a:pathLst>
              <a:path w="3655286" h="4057823">
                <a:moveTo>
                  <a:pt x="0" y="0"/>
                </a:moveTo>
                <a:lnTo>
                  <a:pt x="3655286" y="0"/>
                </a:lnTo>
                <a:lnTo>
                  <a:pt x="3655286" y="4057823"/>
                </a:lnTo>
                <a:lnTo>
                  <a:pt x="0" y="40578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083" t="-3408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59198" y="5984524"/>
            <a:ext cx="2757930" cy="3251002"/>
          </a:xfrm>
          <a:custGeom>
            <a:avLst/>
            <a:gdLst/>
            <a:ahLst/>
            <a:cxnLst/>
            <a:rect l="l" t="t" r="r" b="b"/>
            <a:pathLst>
              <a:path w="2757930" h="3251002">
                <a:moveTo>
                  <a:pt x="0" y="0"/>
                </a:moveTo>
                <a:lnTo>
                  <a:pt x="2757930" y="0"/>
                </a:lnTo>
                <a:lnTo>
                  <a:pt x="2757930" y="3251002"/>
                </a:lnTo>
                <a:lnTo>
                  <a:pt x="0" y="32510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80010" t="-7199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21994" y="2996779"/>
            <a:ext cx="3812647" cy="2668579"/>
          </a:xfrm>
          <a:custGeom>
            <a:avLst/>
            <a:gdLst/>
            <a:ahLst/>
            <a:cxnLst/>
            <a:rect l="l" t="t" r="r" b="b"/>
            <a:pathLst>
              <a:path w="3812647" h="2668579">
                <a:moveTo>
                  <a:pt x="0" y="0"/>
                </a:moveTo>
                <a:lnTo>
                  <a:pt x="3812647" y="0"/>
                </a:lnTo>
                <a:lnTo>
                  <a:pt x="3812647" y="2668579"/>
                </a:lnTo>
                <a:lnTo>
                  <a:pt x="0" y="2668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30358" t="-12626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890304" y="-15850"/>
            <a:ext cx="11933016" cy="1393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1"/>
              </a:lnSpc>
            </a:pPr>
            <a:r>
              <a:rPr lang="en-US" sz="817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SQL Dashboard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97251" y="2981347"/>
            <a:ext cx="5293498" cy="4944885"/>
            <a:chOff x="0" y="0"/>
            <a:chExt cx="1394172" cy="1302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ECC33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2304" y="2981347"/>
            <a:ext cx="5293498" cy="4944885"/>
            <a:chOff x="0" y="0"/>
            <a:chExt cx="1394172" cy="13023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1675D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62199" y="2981347"/>
            <a:ext cx="5293498" cy="4944885"/>
            <a:chOff x="0" y="0"/>
            <a:chExt cx="1394172" cy="13023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172" cy="1302357"/>
            </a:xfrm>
            <a:custGeom>
              <a:avLst/>
              <a:gdLst/>
              <a:ahLst/>
              <a:cxnLst/>
              <a:rect l="l" t="t" r="r" b="b"/>
              <a:pathLst>
                <a:path w="1394172" h="1302357">
                  <a:moveTo>
                    <a:pt x="11700" y="0"/>
                  </a:moveTo>
                  <a:lnTo>
                    <a:pt x="1382472" y="0"/>
                  </a:lnTo>
                  <a:cubicBezTo>
                    <a:pt x="1388934" y="0"/>
                    <a:pt x="1394172" y="5238"/>
                    <a:pt x="1394172" y="11700"/>
                  </a:cubicBezTo>
                  <a:lnTo>
                    <a:pt x="1394172" y="1290656"/>
                  </a:lnTo>
                  <a:cubicBezTo>
                    <a:pt x="1394172" y="1297118"/>
                    <a:pt x="1388934" y="1302357"/>
                    <a:pt x="1382472" y="1302357"/>
                  </a:cubicBezTo>
                  <a:lnTo>
                    <a:pt x="11700" y="1302357"/>
                  </a:lnTo>
                  <a:cubicBezTo>
                    <a:pt x="5238" y="1302357"/>
                    <a:pt x="0" y="1297118"/>
                    <a:pt x="0" y="1290656"/>
                  </a:cubicBezTo>
                  <a:lnTo>
                    <a:pt x="0" y="11700"/>
                  </a:lnTo>
                  <a:cubicBezTo>
                    <a:pt x="0" y="5238"/>
                    <a:pt x="5238" y="0"/>
                    <a:pt x="117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4172" cy="1340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76400" y="1636753"/>
            <a:ext cx="3624501" cy="8540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09175" y="1627230"/>
            <a:ext cx="386965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64155" y="1627230"/>
            <a:ext cx="4904115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Disadvantages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5586" y="2933722"/>
            <a:ext cx="4979715" cy="514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7705" lvl="1" indent="-263853" algn="l">
              <a:lnSpc>
                <a:spcPts val="3421"/>
              </a:lnSpc>
              <a:buFont typeface="Arial"/>
              <a:buChar char="•"/>
            </a:pPr>
            <a:r>
              <a:rPr lang="en-US" sz="2444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Joins and subqueries are error-prone and sensitive to business logic</a:t>
            </a:r>
          </a:p>
          <a:p>
            <a:pPr algn="l">
              <a:lnSpc>
                <a:spcPts val="3421"/>
              </a:lnSpc>
            </a:pPr>
            <a:endParaRPr lang="en-US" sz="2444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27705" lvl="1" indent="-263853" algn="l">
              <a:lnSpc>
                <a:spcPts val="3421"/>
              </a:lnSpc>
              <a:buFont typeface="Arial"/>
              <a:buChar char="•"/>
            </a:pPr>
            <a:r>
              <a:rPr lang="en-US" sz="2444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Debugging complex queries is time-consuming without visual feedback</a:t>
            </a:r>
          </a:p>
          <a:p>
            <a:pPr algn="l">
              <a:lnSpc>
                <a:spcPts val="3421"/>
              </a:lnSpc>
            </a:pPr>
            <a:endParaRPr lang="en-US" sz="2444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27705" lvl="1" indent="-263853" algn="l">
              <a:lnSpc>
                <a:spcPts val="3421"/>
              </a:lnSpc>
              <a:buFont typeface="Arial"/>
              <a:buChar char="•"/>
            </a:pPr>
            <a:r>
              <a:rPr lang="en-US" sz="2444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and connection stability issues with very large datasets</a:t>
            </a:r>
          </a:p>
          <a:p>
            <a:pPr algn="l">
              <a:lnSpc>
                <a:spcPts val="3421"/>
              </a:lnSpc>
            </a:pPr>
            <a:endParaRPr lang="en-US" sz="2444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97251" y="3144047"/>
            <a:ext cx="5293498" cy="455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Very fast processing once queries are optimized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Most reliable tool for data cleaning and transformations (dates, epoch, aggregations)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Efficient handling of large structured datasets</a:t>
            </a:r>
          </a:p>
          <a:p>
            <a:pPr algn="l">
              <a:lnSpc>
                <a:spcPts val="3640"/>
              </a:lnSpc>
            </a:pPr>
            <a:endParaRPr lang="en-US" sz="26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149626" y="3119633"/>
            <a:ext cx="4918644" cy="45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778" lvl="1" indent="-217389" algn="l">
              <a:lnSpc>
                <a:spcPts val="2819"/>
              </a:lnSpc>
              <a:buFont typeface="Arial"/>
              <a:buChar char="•"/>
            </a:pPr>
            <a:r>
              <a:rPr lang="en-US" sz="2013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 visual interface for data validation</a:t>
            </a:r>
          </a:p>
          <a:p>
            <a:pPr algn="l">
              <a:lnSpc>
                <a:spcPts val="2819"/>
              </a:lnSpc>
            </a:pPr>
            <a:endParaRPr lang="en-US" sz="2013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34778" lvl="1" indent="-217389" algn="l">
              <a:lnSpc>
                <a:spcPts val="2819"/>
              </a:lnSpc>
              <a:buFont typeface="Arial"/>
              <a:buChar char="•"/>
            </a:pPr>
            <a:r>
              <a:rPr lang="en-US" sz="2013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Risk of permanent data loss with destructive commands</a:t>
            </a:r>
          </a:p>
          <a:p>
            <a:pPr algn="l">
              <a:lnSpc>
                <a:spcPts val="2819"/>
              </a:lnSpc>
            </a:pPr>
            <a:endParaRPr lang="en-US" sz="2013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34778" lvl="1" indent="-217389" algn="l">
              <a:lnSpc>
                <a:spcPts val="2819"/>
              </a:lnSpc>
              <a:buFont typeface="Arial"/>
              <a:buChar char="•"/>
            </a:pPr>
            <a:r>
              <a:rPr lang="en-US" sz="2013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Requires database access, setup, and permissions</a:t>
            </a:r>
          </a:p>
          <a:p>
            <a:pPr algn="l">
              <a:lnSpc>
                <a:spcPts val="2819"/>
              </a:lnSpc>
            </a:pPr>
            <a:endParaRPr lang="en-US" sz="2013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34778" lvl="1" indent="-217389" algn="l">
              <a:lnSpc>
                <a:spcPts val="2819"/>
              </a:lnSpc>
              <a:buFont typeface="Arial"/>
              <a:buChar char="•"/>
            </a:pPr>
            <a:r>
              <a:rPr lang="en-US" sz="2013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Poorly written queries can impact system performance</a:t>
            </a:r>
          </a:p>
          <a:p>
            <a:pPr algn="l">
              <a:lnSpc>
                <a:spcPts val="2819"/>
              </a:lnSpc>
            </a:pPr>
            <a:endParaRPr lang="en-US" sz="2013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434778" lvl="1" indent="-217389" algn="l">
              <a:lnSpc>
                <a:spcPts val="2819"/>
              </a:lnSpc>
              <a:buFont typeface="Arial"/>
              <a:buChar char="•"/>
            </a:pPr>
            <a:r>
              <a:rPr lang="en-US" sz="2013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Not suitable for unstructured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6217" y="3113362"/>
            <a:ext cx="5587056" cy="5584276"/>
          </a:xfrm>
          <a:custGeom>
            <a:avLst/>
            <a:gdLst/>
            <a:ahLst/>
            <a:cxnLst/>
            <a:rect l="l" t="t" r="r" b="b"/>
            <a:pathLst>
              <a:path w="5587056" h="5584276">
                <a:moveTo>
                  <a:pt x="0" y="0"/>
                </a:moveTo>
                <a:lnTo>
                  <a:pt x="5587056" y="0"/>
                </a:lnTo>
                <a:lnTo>
                  <a:pt x="5587056" y="5584276"/>
                </a:lnTo>
                <a:lnTo>
                  <a:pt x="0" y="5584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982174" y="3425503"/>
            <a:ext cx="1253013" cy="125301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75D5"/>
            </a:solidFill>
            <a:ln w="666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88532" y="5774822"/>
            <a:ext cx="1253013" cy="12530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4"/>
            </a:solidFill>
            <a:ln w="666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00135" y="4750481"/>
            <a:ext cx="1253013" cy="125301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A2B1"/>
            </a:solidFill>
            <a:ln w="666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12278" y="7158192"/>
            <a:ext cx="1253013" cy="125301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C276"/>
            </a:solidFill>
            <a:ln w="66675" cap="sq">
              <a:solidFill>
                <a:srgbClr val="F9FAFC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09617" y="2874250"/>
            <a:ext cx="551253" cy="55125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75D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517" tIns="26517" rIns="26517" bIns="26517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038089" y="2874250"/>
            <a:ext cx="551253" cy="55125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517" tIns="26517" rIns="26517" bIns="26517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509617" y="6882566"/>
            <a:ext cx="551253" cy="55125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A2B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517" tIns="26517" rIns="26517" bIns="26517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38089" y="6882566"/>
            <a:ext cx="551253" cy="551253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C27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6517" tIns="26517" rIns="26517" bIns="26517" rtlCol="0" anchor="ctr"/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8325009" y="3742447"/>
            <a:ext cx="567344" cy="619125"/>
          </a:xfrm>
          <a:custGeom>
            <a:avLst/>
            <a:gdLst/>
            <a:ahLst/>
            <a:cxnLst/>
            <a:rect l="l" t="t" r="r" b="b"/>
            <a:pathLst>
              <a:path w="567344" h="619125">
                <a:moveTo>
                  <a:pt x="0" y="0"/>
                </a:moveTo>
                <a:lnTo>
                  <a:pt x="567343" y="0"/>
                </a:lnTo>
                <a:lnTo>
                  <a:pt x="567343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10641410" y="5091238"/>
            <a:ext cx="570461" cy="571500"/>
          </a:xfrm>
          <a:custGeom>
            <a:avLst/>
            <a:gdLst/>
            <a:ahLst/>
            <a:cxnLst/>
            <a:rect l="l" t="t" r="r" b="b"/>
            <a:pathLst>
              <a:path w="570461" h="571500">
                <a:moveTo>
                  <a:pt x="0" y="0"/>
                </a:moveTo>
                <a:lnTo>
                  <a:pt x="570461" y="0"/>
                </a:lnTo>
                <a:lnTo>
                  <a:pt x="570461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9229222" y="7475136"/>
            <a:ext cx="619125" cy="619125"/>
          </a:xfrm>
          <a:custGeom>
            <a:avLst/>
            <a:gdLst/>
            <a:ahLst/>
            <a:cxnLst/>
            <a:rect l="l" t="t" r="r" b="b"/>
            <a:pathLst>
              <a:path w="619125" h="619125">
                <a:moveTo>
                  <a:pt x="0" y="0"/>
                </a:moveTo>
                <a:lnTo>
                  <a:pt x="619125" y="0"/>
                </a:lnTo>
                <a:lnTo>
                  <a:pt x="6191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6927106" y="6077478"/>
            <a:ext cx="575864" cy="647700"/>
          </a:xfrm>
          <a:custGeom>
            <a:avLst/>
            <a:gdLst/>
            <a:ahLst/>
            <a:cxnLst/>
            <a:rect l="l" t="t" r="r" b="b"/>
            <a:pathLst>
              <a:path w="575864" h="647700">
                <a:moveTo>
                  <a:pt x="0" y="0"/>
                </a:moveTo>
                <a:lnTo>
                  <a:pt x="575864" y="0"/>
                </a:lnTo>
                <a:lnTo>
                  <a:pt x="575864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TextBox 31"/>
          <p:cNvSpPr txBox="1"/>
          <p:nvPr/>
        </p:nvSpPr>
        <p:spPr>
          <a:xfrm>
            <a:off x="3524250" y="974965"/>
            <a:ext cx="11239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Insights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43273" y="3704347"/>
            <a:ext cx="3883942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Lower funding goals have higher success rates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Example: </a:t>
            </a:r>
            <a:r>
              <a:rPr lang="en-US" sz="18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Projects below $10K outperform those above $50K.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843273" y="7739423"/>
            <a:ext cx="4138525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Category selection significantly affects outcomes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endParaRPr lang="en-US" sz="1799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Example</a:t>
            </a:r>
            <a:r>
              <a:rPr lang="en-US" sz="179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Games and Design categories show higher success than niche categories</a:t>
            </a:r>
            <a:r>
              <a:rPr lang="en-US" sz="1799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34495" y="3720301"/>
            <a:ext cx="3358441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Launch timing influences success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Example: </a:t>
            </a:r>
            <a:r>
              <a:rPr lang="en-US" sz="18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Certain months consistently outperform year-end launches.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634495" y="7746598"/>
            <a:ext cx="3621722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Geography impacts performance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b="1" dirty="0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Example: </a:t>
            </a:r>
            <a:r>
              <a:rPr lang="en-US" sz="180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Projects from the US and UK achieve higher success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9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579" y="952500"/>
            <a:ext cx="9850641" cy="8382000"/>
          </a:xfrm>
          <a:custGeom>
            <a:avLst/>
            <a:gdLst/>
            <a:ahLst/>
            <a:cxnLst/>
            <a:rect l="l" t="t" r="r" b="b"/>
            <a:pathLst>
              <a:path w="9850641" h="8382000">
                <a:moveTo>
                  <a:pt x="0" y="0"/>
                </a:moveTo>
                <a:lnTo>
                  <a:pt x="9850641" y="0"/>
                </a:lnTo>
                <a:lnTo>
                  <a:pt x="9850641" y="8382000"/>
                </a:lnTo>
                <a:lnTo>
                  <a:pt x="0" y="838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91001" y="3069510"/>
            <a:ext cx="765796" cy="787267"/>
          </a:xfrm>
          <a:custGeom>
            <a:avLst/>
            <a:gdLst/>
            <a:ahLst/>
            <a:cxnLst/>
            <a:rect l="l" t="t" r="r" b="b"/>
            <a:pathLst>
              <a:path w="765796" h="787267">
                <a:moveTo>
                  <a:pt x="0" y="0"/>
                </a:moveTo>
                <a:lnTo>
                  <a:pt x="765796" y="0"/>
                </a:lnTo>
                <a:lnTo>
                  <a:pt x="765796" y="787267"/>
                </a:lnTo>
                <a:lnTo>
                  <a:pt x="0" y="787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1282157" y="4723237"/>
            <a:ext cx="754777" cy="787717"/>
          </a:xfrm>
          <a:custGeom>
            <a:avLst/>
            <a:gdLst/>
            <a:ahLst/>
            <a:cxnLst/>
            <a:rect l="l" t="t" r="r" b="b"/>
            <a:pathLst>
              <a:path w="754777" h="787717">
                <a:moveTo>
                  <a:pt x="0" y="0"/>
                </a:moveTo>
                <a:lnTo>
                  <a:pt x="754777" y="0"/>
                </a:lnTo>
                <a:lnTo>
                  <a:pt x="754777" y="787718"/>
                </a:lnTo>
                <a:lnTo>
                  <a:pt x="0" y="787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1294776" y="6377730"/>
            <a:ext cx="729540" cy="876085"/>
          </a:xfrm>
          <a:custGeom>
            <a:avLst/>
            <a:gdLst/>
            <a:ahLst/>
            <a:cxnLst/>
            <a:rect l="l" t="t" r="r" b="b"/>
            <a:pathLst>
              <a:path w="729540" h="876085">
                <a:moveTo>
                  <a:pt x="0" y="0"/>
                </a:moveTo>
                <a:lnTo>
                  <a:pt x="729540" y="0"/>
                </a:lnTo>
                <a:lnTo>
                  <a:pt x="729540" y="876085"/>
                </a:lnTo>
                <a:lnTo>
                  <a:pt x="0" y="876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1274456" y="1396419"/>
            <a:ext cx="798887" cy="787267"/>
          </a:xfrm>
          <a:custGeom>
            <a:avLst/>
            <a:gdLst/>
            <a:ahLst/>
            <a:cxnLst/>
            <a:rect l="l" t="t" r="r" b="b"/>
            <a:pathLst>
              <a:path w="798887" h="787267">
                <a:moveTo>
                  <a:pt x="0" y="0"/>
                </a:moveTo>
                <a:lnTo>
                  <a:pt x="798886" y="0"/>
                </a:lnTo>
                <a:lnTo>
                  <a:pt x="798886" y="787266"/>
                </a:lnTo>
                <a:lnTo>
                  <a:pt x="0" y="787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41066" y="3745020"/>
            <a:ext cx="6030716" cy="188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Recommendations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for 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Stakeholders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64446" y="1529397"/>
            <a:ext cx="3251832" cy="270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Set realistic funding goals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US" sz="2199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Recommendation: First-time creators should target lower goal ranges to increase success probability.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endParaRPr lang="en-US" sz="18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018822" y="3085255"/>
            <a:ext cx="3368837" cy="242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Focus on high-performing categories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Recommendation: Prioritize categories like Games and Design with proven success rates.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75843" y="5113972"/>
            <a:ext cx="3440435" cy="203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Optimize launch timing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Recommendation: Avoid low-performing months and launch during historically strong periods.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5391" y="6499995"/>
            <a:ext cx="3286119" cy="242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Adopt a data-driven approach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2199" b="1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Recommendation: Use historical Kickstarter trends instead of assumptions before launching.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H="1" flipV="1">
            <a:off x="2885198" y="5734441"/>
            <a:ext cx="5065470" cy="3573459"/>
          </a:xfrm>
          <a:custGeom>
            <a:avLst/>
            <a:gdLst/>
            <a:ahLst/>
            <a:cxnLst/>
            <a:rect l="l" t="t" r="r" b="b"/>
            <a:pathLst>
              <a:path w="5065470" h="3573459">
                <a:moveTo>
                  <a:pt x="5065470" y="3573459"/>
                </a:moveTo>
                <a:lnTo>
                  <a:pt x="0" y="3573459"/>
                </a:lnTo>
                <a:lnTo>
                  <a:pt x="0" y="0"/>
                </a:lnTo>
                <a:lnTo>
                  <a:pt x="5065470" y="0"/>
                </a:lnTo>
                <a:lnTo>
                  <a:pt x="5065470" y="35734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362161">
            <a:off x="1175372" y="3523503"/>
            <a:ext cx="5901944" cy="653265"/>
          </a:xfrm>
          <a:custGeom>
            <a:avLst/>
            <a:gdLst/>
            <a:ahLst/>
            <a:cxnLst/>
            <a:rect l="l" t="t" r="r" b="b"/>
            <a:pathLst>
              <a:path w="5901944" h="653265">
                <a:moveTo>
                  <a:pt x="0" y="0"/>
                </a:moveTo>
                <a:lnTo>
                  <a:pt x="5901944" y="0"/>
                </a:lnTo>
                <a:lnTo>
                  <a:pt x="5901944" y="653265"/>
                </a:lnTo>
                <a:lnTo>
                  <a:pt x="0" y="65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798606" flipV="1">
            <a:off x="4250552" y="4274268"/>
            <a:ext cx="5901944" cy="653265"/>
          </a:xfrm>
          <a:custGeom>
            <a:avLst/>
            <a:gdLst/>
            <a:ahLst/>
            <a:cxnLst/>
            <a:rect l="l" t="t" r="r" b="b"/>
            <a:pathLst>
              <a:path w="5901944" h="653265">
                <a:moveTo>
                  <a:pt x="0" y="653265"/>
                </a:moveTo>
                <a:lnTo>
                  <a:pt x="5901944" y="653265"/>
                </a:lnTo>
                <a:lnTo>
                  <a:pt x="5901944" y="0"/>
                </a:lnTo>
                <a:lnTo>
                  <a:pt x="0" y="0"/>
                </a:lnTo>
                <a:lnTo>
                  <a:pt x="0" y="65326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2497860" y="4385885"/>
            <a:ext cx="5901944" cy="653265"/>
          </a:xfrm>
          <a:custGeom>
            <a:avLst/>
            <a:gdLst/>
            <a:ahLst/>
            <a:cxnLst/>
            <a:rect l="l" t="t" r="r" b="b"/>
            <a:pathLst>
              <a:path w="5901944" h="653265">
                <a:moveTo>
                  <a:pt x="0" y="653265"/>
                </a:moveTo>
                <a:lnTo>
                  <a:pt x="5901944" y="653265"/>
                </a:lnTo>
                <a:lnTo>
                  <a:pt x="5901944" y="0"/>
                </a:lnTo>
                <a:lnTo>
                  <a:pt x="0" y="0"/>
                </a:lnTo>
                <a:lnTo>
                  <a:pt x="0" y="6532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570648" flipV="1">
            <a:off x="-13902" y="4809152"/>
            <a:ext cx="5901944" cy="653265"/>
          </a:xfrm>
          <a:custGeom>
            <a:avLst/>
            <a:gdLst/>
            <a:ahLst/>
            <a:cxnLst/>
            <a:rect l="l" t="t" r="r" b="b"/>
            <a:pathLst>
              <a:path w="5901944" h="653265">
                <a:moveTo>
                  <a:pt x="0" y="653265"/>
                </a:moveTo>
                <a:lnTo>
                  <a:pt x="5901944" y="653265"/>
                </a:lnTo>
                <a:lnTo>
                  <a:pt x="5901944" y="0"/>
                </a:lnTo>
                <a:lnTo>
                  <a:pt x="0" y="0"/>
                </a:lnTo>
                <a:lnTo>
                  <a:pt x="0" y="65326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413327" y="4705652"/>
            <a:ext cx="1299770" cy="129977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1675D5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485983" y="3291555"/>
            <a:ext cx="1299770" cy="129977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01A2B1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98947" y="3900934"/>
            <a:ext cx="1299770" cy="129977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27C276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51639" y="3900934"/>
            <a:ext cx="1299770" cy="129977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04775" cap="sq">
              <a:solidFill>
                <a:srgbClr val="FFBE24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097492" y="3291555"/>
            <a:ext cx="2878555" cy="2518528"/>
            <a:chOff x="0" y="0"/>
            <a:chExt cx="758138" cy="663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8138" cy="663316"/>
            </a:xfrm>
            <a:custGeom>
              <a:avLst/>
              <a:gdLst/>
              <a:ahLst/>
              <a:cxnLst/>
              <a:rect l="l" t="t" r="r" b="b"/>
              <a:pathLst>
                <a:path w="758138" h="663316">
                  <a:moveTo>
                    <a:pt x="45722" y="0"/>
                  </a:moveTo>
                  <a:lnTo>
                    <a:pt x="712416" y="0"/>
                  </a:lnTo>
                  <a:cubicBezTo>
                    <a:pt x="737668" y="0"/>
                    <a:pt x="758138" y="20470"/>
                    <a:pt x="758138" y="45722"/>
                  </a:cubicBezTo>
                  <a:lnTo>
                    <a:pt x="758138" y="617594"/>
                  </a:lnTo>
                  <a:cubicBezTo>
                    <a:pt x="758138" y="642846"/>
                    <a:pt x="737668" y="663316"/>
                    <a:pt x="712416" y="663316"/>
                  </a:cubicBezTo>
                  <a:lnTo>
                    <a:pt x="45722" y="663316"/>
                  </a:lnTo>
                  <a:cubicBezTo>
                    <a:pt x="20470" y="663316"/>
                    <a:pt x="0" y="642846"/>
                    <a:pt x="0" y="617594"/>
                  </a:cubicBezTo>
                  <a:lnTo>
                    <a:pt x="0" y="45722"/>
                  </a:lnTo>
                  <a:cubicBezTo>
                    <a:pt x="0" y="20470"/>
                    <a:pt x="20470" y="0"/>
                    <a:pt x="457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58138" cy="701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184994" y="3291555"/>
            <a:ext cx="2878555" cy="2518528"/>
            <a:chOff x="0" y="0"/>
            <a:chExt cx="758138" cy="6633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58138" cy="663316"/>
            </a:xfrm>
            <a:custGeom>
              <a:avLst/>
              <a:gdLst/>
              <a:ahLst/>
              <a:cxnLst/>
              <a:rect l="l" t="t" r="r" b="b"/>
              <a:pathLst>
                <a:path w="758138" h="663316">
                  <a:moveTo>
                    <a:pt x="45722" y="0"/>
                  </a:moveTo>
                  <a:lnTo>
                    <a:pt x="712416" y="0"/>
                  </a:lnTo>
                  <a:cubicBezTo>
                    <a:pt x="737668" y="0"/>
                    <a:pt x="758138" y="20470"/>
                    <a:pt x="758138" y="45722"/>
                  </a:cubicBezTo>
                  <a:lnTo>
                    <a:pt x="758138" y="617594"/>
                  </a:lnTo>
                  <a:cubicBezTo>
                    <a:pt x="758138" y="642846"/>
                    <a:pt x="737668" y="663316"/>
                    <a:pt x="712416" y="663316"/>
                  </a:cubicBezTo>
                  <a:lnTo>
                    <a:pt x="45722" y="663316"/>
                  </a:lnTo>
                  <a:cubicBezTo>
                    <a:pt x="20470" y="663316"/>
                    <a:pt x="0" y="642846"/>
                    <a:pt x="0" y="617594"/>
                  </a:cubicBezTo>
                  <a:lnTo>
                    <a:pt x="0" y="45722"/>
                  </a:lnTo>
                  <a:cubicBezTo>
                    <a:pt x="0" y="20470"/>
                    <a:pt x="20470" y="0"/>
                    <a:pt x="457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758138" cy="701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727846" y="6251073"/>
            <a:ext cx="2878555" cy="2518528"/>
            <a:chOff x="0" y="0"/>
            <a:chExt cx="758138" cy="66331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58138" cy="663316"/>
            </a:xfrm>
            <a:custGeom>
              <a:avLst/>
              <a:gdLst/>
              <a:ahLst/>
              <a:cxnLst/>
              <a:rect l="l" t="t" r="r" b="b"/>
              <a:pathLst>
                <a:path w="758138" h="663316">
                  <a:moveTo>
                    <a:pt x="45722" y="0"/>
                  </a:moveTo>
                  <a:lnTo>
                    <a:pt x="712416" y="0"/>
                  </a:lnTo>
                  <a:cubicBezTo>
                    <a:pt x="737668" y="0"/>
                    <a:pt x="758138" y="20470"/>
                    <a:pt x="758138" y="45722"/>
                  </a:cubicBezTo>
                  <a:lnTo>
                    <a:pt x="758138" y="617594"/>
                  </a:lnTo>
                  <a:cubicBezTo>
                    <a:pt x="758138" y="642846"/>
                    <a:pt x="737668" y="663316"/>
                    <a:pt x="712416" y="663316"/>
                  </a:cubicBezTo>
                  <a:lnTo>
                    <a:pt x="45722" y="663316"/>
                  </a:lnTo>
                  <a:cubicBezTo>
                    <a:pt x="20470" y="663316"/>
                    <a:pt x="0" y="642846"/>
                    <a:pt x="0" y="617594"/>
                  </a:cubicBezTo>
                  <a:lnTo>
                    <a:pt x="0" y="45722"/>
                  </a:lnTo>
                  <a:cubicBezTo>
                    <a:pt x="0" y="20470"/>
                    <a:pt x="20470" y="0"/>
                    <a:pt x="457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758138" cy="701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 flipH="1">
            <a:off x="10484100" y="3746101"/>
            <a:ext cx="731649" cy="139679"/>
          </a:xfrm>
          <a:custGeom>
            <a:avLst/>
            <a:gdLst/>
            <a:ahLst/>
            <a:cxnLst/>
            <a:rect l="l" t="t" r="r" b="b"/>
            <a:pathLst>
              <a:path w="731649" h="139679">
                <a:moveTo>
                  <a:pt x="731649" y="0"/>
                </a:moveTo>
                <a:lnTo>
                  <a:pt x="0" y="0"/>
                </a:lnTo>
                <a:lnTo>
                  <a:pt x="0" y="139679"/>
                </a:lnTo>
                <a:lnTo>
                  <a:pt x="731649" y="139679"/>
                </a:lnTo>
                <a:lnTo>
                  <a:pt x="73164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flipH="1">
            <a:off x="13571602" y="3746101"/>
            <a:ext cx="731649" cy="139679"/>
          </a:xfrm>
          <a:custGeom>
            <a:avLst/>
            <a:gdLst/>
            <a:ahLst/>
            <a:cxnLst/>
            <a:rect l="l" t="t" r="r" b="b"/>
            <a:pathLst>
              <a:path w="731649" h="139679">
                <a:moveTo>
                  <a:pt x="731649" y="0"/>
                </a:moveTo>
                <a:lnTo>
                  <a:pt x="0" y="0"/>
                </a:lnTo>
                <a:lnTo>
                  <a:pt x="0" y="139679"/>
                </a:lnTo>
                <a:lnTo>
                  <a:pt x="731649" y="139679"/>
                </a:lnTo>
                <a:lnTo>
                  <a:pt x="731649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 flipH="1">
            <a:off x="11791356" y="6625088"/>
            <a:ext cx="731649" cy="139679"/>
          </a:xfrm>
          <a:custGeom>
            <a:avLst/>
            <a:gdLst/>
            <a:ahLst/>
            <a:cxnLst/>
            <a:rect l="l" t="t" r="r" b="b"/>
            <a:pathLst>
              <a:path w="731649" h="139679">
                <a:moveTo>
                  <a:pt x="731649" y="0"/>
                </a:moveTo>
                <a:lnTo>
                  <a:pt x="0" y="0"/>
                </a:lnTo>
                <a:lnTo>
                  <a:pt x="0" y="139679"/>
                </a:lnTo>
                <a:lnTo>
                  <a:pt x="731649" y="139679"/>
                </a:lnTo>
                <a:lnTo>
                  <a:pt x="731649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0097492" y="5827693"/>
            <a:ext cx="2878555" cy="261687"/>
          </a:xfrm>
          <a:custGeom>
            <a:avLst/>
            <a:gdLst/>
            <a:ahLst/>
            <a:cxnLst/>
            <a:rect l="l" t="t" r="r" b="b"/>
            <a:pathLst>
              <a:path w="2878555" h="261687">
                <a:moveTo>
                  <a:pt x="0" y="0"/>
                </a:moveTo>
                <a:lnTo>
                  <a:pt x="2878555" y="0"/>
                </a:lnTo>
                <a:lnTo>
                  <a:pt x="2878555" y="261687"/>
                </a:lnTo>
                <a:lnTo>
                  <a:pt x="0" y="2616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28000"/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3184994" y="5827693"/>
            <a:ext cx="2878555" cy="261687"/>
          </a:xfrm>
          <a:custGeom>
            <a:avLst/>
            <a:gdLst/>
            <a:ahLst/>
            <a:cxnLst/>
            <a:rect l="l" t="t" r="r" b="b"/>
            <a:pathLst>
              <a:path w="2878555" h="261687">
                <a:moveTo>
                  <a:pt x="0" y="0"/>
                </a:moveTo>
                <a:lnTo>
                  <a:pt x="2878555" y="0"/>
                </a:lnTo>
                <a:lnTo>
                  <a:pt x="2878555" y="261687"/>
                </a:lnTo>
                <a:lnTo>
                  <a:pt x="0" y="2616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28000"/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097492" y="8638758"/>
            <a:ext cx="2878555" cy="261687"/>
          </a:xfrm>
          <a:custGeom>
            <a:avLst/>
            <a:gdLst/>
            <a:ahLst/>
            <a:cxnLst/>
            <a:rect l="l" t="t" r="r" b="b"/>
            <a:pathLst>
              <a:path w="2878555" h="261687">
                <a:moveTo>
                  <a:pt x="0" y="0"/>
                </a:moveTo>
                <a:lnTo>
                  <a:pt x="2878555" y="0"/>
                </a:lnTo>
                <a:lnTo>
                  <a:pt x="2878555" y="261687"/>
                </a:lnTo>
                <a:lnTo>
                  <a:pt x="0" y="2616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28000"/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2811752" y="5069787"/>
            <a:ext cx="502920" cy="571500"/>
          </a:xfrm>
          <a:custGeom>
            <a:avLst/>
            <a:gdLst/>
            <a:ahLst/>
            <a:cxnLst/>
            <a:rect l="l" t="t" r="r" b="b"/>
            <a:pathLst>
              <a:path w="502920" h="571500">
                <a:moveTo>
                  <a:pt x="0" y="0"/>
                </a:moveTo>
                <a:lnTo>
                  <a:pt x="502920" y="0"/>
                </a:lnTo>
                <a:lnTo>
                  <a:pt x="50292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5" name="Freeform 35"/>
          <p:cNvSpPr/>
          <p:nvPr/>
        </p:nvSpPr>
        <p:spPr>
          <a:xfrm>
            <a:off x="3830699" y="3655690"/>
            <a:ext cx="610340" cy="571500"/>
          </a:xfrm>
          <a:custGeom>
            <a:avLst/>
            <a:gdLst/>
            <a:ahLst/>
            <a:cxnLst/>
            <a:rect l="l" t="t" r="r" b="b"/>
            <a:pathLst>
              <a:path w="610340" h="571500">
                <a:moveTo>
                  <a:pt x="0" y="0"/>
                </a:moveTo>
                <a:lnTo>
                  <a:pt x="610340" y="0"/>
                </a:lnTo>
                <a:lnTo>
                  <a:pt x="61034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>
            <a:off x="5108808" y="4212649"/>
            <a:ext cx="680049" cy="676340"/>
          </a:xfrm>
          <a:custGeom>
            <a:avLst/>
            <a:gdLst/>
            <a:ahLst/>
            <a:cxnLst/>
            <a:rect l="l" t="t" r="r" b="b"/>
            <a:pathLst>
              <a:path w="680049" h="676340">
                <a:moveTo>
                  <a:pt x="0" y="0"/>
                </a:moveTo>
                <a:lnTo>
                  <a:pt x="680049" y="0"/>
                </a:lnTo>
                <a:lnTo>
                  <a:pt x="680049" y="676340"/>
                </a:lnTo>
                <a:lnTo>
                  <a:pt x="0" y="67634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>
            <a:off x="6978360" y="4240085"/>
            <a:ext cx="446328" cy="621469"/>
          </a:xfrm>
          <a:custGeom>
            <a:avLst/>
            <a:gdLst/>
            <a:ahLst/>
            <a:cxnLst/>
            <a:rect l="l" t="t" r="r" b="b"/>
            <a:pathLst>
              <a:path w="446328" h="621469">
                <a:moveTo>
                  <a:pt x="0" y="0"/>
                </a:moveTo>
                <a:lnTo>
                  <a:pt x="446328" y="0"/>
                </a:lnTo>
                <a:lnTo>
                  <a:pt x="446328" y="621469"/>
                </a:lnTo>
                <a:lnTo>
                  <a:pt x="0" y="62146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TextBox 38"/>
          <p:cNvSpPr txBox="1"/>
          <p:nvPr/>
        </p:nvSpPr>
        <p:spPr>
          <a:xfrm>
            <a:off x="9945685" y="1554195"/>
            <a:ext cx="647861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Learnings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97492" y="4383825"/>
            <a:ext cx="2878555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Cleaned and transformed large datasets using SQL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385622" y="4207612"/>
            <a:ext cx="2441559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Handled epoch time and campaign duration calculations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727846" y="6970308"/>
            <a:ext cx="2878555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Built interactive dashboards using Power BI and Tableau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3663" flipV="1">
            <a:off x="1566996" y="3808747"/>
            <a:ext cx="3444061" cy="6051865"/>
          </a:xfrm>
          <a:custGeom>
            <a:avLst/>
            <a:gdLst/>
            <a:ahLst/>
            <a:cxnLst/>
            <a:rect l="l" t="t" r="r" b="b"/>
            <a:pathLst>
              <a:path w="3444061" h="6051865">
                <a:moveTo>
                  <a:pt x="0" y="6051865"/>
                </a:moveTo>
                <a:lnTo>
                  <a:pt x="3444061" y="6051865"/>
                </a:lnTo>
                <a:lnTo>
                  <a:pt x="3444061" y="0"/>
                </a:lnTo>
                <a:lnTo>
                  <a:pt x="0" y="0"/>
                </a:lnTo>
                <a:lnTo>
                  <a:pt x="0" y="6051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763663">
            <a:off x="3268791" y="8196284"/>
            <a:ext cx="892640" cy="89264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75D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346450" flipV="1">
            <a:off x="5438365" y="3124609"/>
            <a:ext cx="3444061" cy="6051865"/>
          </a:xfrm>
          <a:custGeom>
            <a:avLst/>
            <a:gdLst/>
            <a:ahLst/>
            <a:cxnLst/>
            <a:rect l="l" t="t" r="r" b="b"/>
            <a:pathLst>
              <a:path w="3444061" h="6051865">
                <a:moveTo>
                  <a:pt x="0" y="6051865"/>
                </a:moveTo>
                <a:lnTo>
                  <a:pt x="3444061" y="6051865"/>
                </a:lnTo>
                <a:lnTo>
                  <a:pt x="3444061" y="0"/>
                </a:lnTo>
                <a:lnTo>
                  <a:pt x="0" y="0"/>
                </a:lnTo>
                <a:lnTo>
                  <a:pt x="0" y="60518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346450">
            <a:off x="6919895" y="7550256"/>
            <a:ext cx="892640" cy="89264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A2B1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345068" flipV="1">
            <a:off x="9472786" y="3120148"/>
            <a:ext cx="3444061" cy="6051865"/>
          </a:xfrm>
          <a:custGeom>
            <a:avLst/>
            <a:gdLst/>
            <a:ahLst/>
            <a:cxnLst/>
            <a:rect l="l" t="t" r="r" b="b"/>
            <a:pathLst>
              <a:path w="3444061" h="6051865">
                <a:moveTo>
                  <a:pt x="0" y="6051864"/>
                </a:moveTo>
                <a:lnTo>
                  <a:pt x="3444062" y="6051864"/>
                </a:lnTo>
                <a:lnTo>
                  <a:pt x="3444062" y="0"/>
                </a:lnTo>
                <a:lnTo>
                  <a:pt x="0" y="0"/>
                </a:lnTo>
                <a:lnTo>
                  <a:pt x="0" y="605186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11" name="Group 11"/>
          <p:cNvGrpSpPr/>
          <p:nvPr/>
        </p:nvGrpSpPr>
        <p:grpSpPr>
          <a:xfrm rot="345068">
            <a:off x="10577838" y="7549343"/>
            <a:ext cx="892640" cy="89264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C276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974850" flipV="1">
            <a:off x="13411398" y="3912283"/>
            <a:ext cx="3444061" cy="6051865"/>
          </a:xfrm>
          <a:custGeom>
            <a:avLst/>
            <a:gdLst/>
            <a:ahLst/>
            <a:cxnLst/>
            <a:rect l="l" t="t" r="r" b="b"/>
            <a:pathLst>
              <a:path w="3444061" h="6051865">
                <a:moveTo>
                  <a:pt x="0" y="6051865"/>
                </a:moveTo>
                <a:lnTo>
                  <a:pt x="3444061" y="6051865"/>
                </a:lnTo>
                <a:lnTo>
                  <a:pt x="3444061" y="0"/>
                </a:lnTo>
                <a:lnTo>
                  <a:pt x="0" y="0"/>
                </a:lnTo>
                <a:lnTo>
                  <a:pt x="0" y="605186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4191505" y="8282104"/>
            <a:ext cx="892640" cy="89264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E24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rot="-762000">
            <a:off x="3452812" y="8380667"/>
            <a:ext cx="523875" cy="523875"/>
          </a:xfrm>
          <a:custGeom>
            <a:avLst/>
            <a:gdLst/>
            <a:ahLst/>
            <a:cxnLst/>
            <a:rect l="l" t="t" r="r" b="b"/>
            <a:pathLst>
              <a:path w="523875" h="523875">
                <a:moveTo>
                  <a:pt x="0" y="0"/>
                </a:moveTo>
                <a:lnTo>
                  <a:pt x="523876" y="0"/>
                </a:lnTo>
                <a:lnTo>
                  <a:pt x="523876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 rot="-348000">
            <a:off x="7109213" y="7771936"/>
            <a:ext cx="514005" cy="476623"/>
          </a:xfrm>
          <a:custGeom>
            <a:avLst/>
            <a:gdLst/>
            <a:ahLst/>
            <a:cxnLst/>
            <a:rect l="l" t="t" r="r" b="b"/>
            <a:pathLst>
              <a:path w="514005" h="476623">
                <a:moveTo>
                  <a:pt x="0" y="0"/>
                </a:moveTo>
                <a:lnTo>
                  <a:pt x="514004" y="0"/>
                </a:lnTo>
                <a:lnTo>
                  <a:pt x="514004" y="476622"/>
                </a:lnTo>
                <a:lnTo>
                  <a:pt x="0" y="4766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 rot="348000">
            <a:off x="10834260" y="7738581"/>
            <a:ext cx="464718" cy="471578"/>
          </a:xfrm>
          <a:custGeom>
            <a:avLst/>
            <a:gdLst/>
            <a:ahLst/>
            <a:cxnLst/>
            <a:rect l="l" t="t" r="r" b="b"/>
            <a:pathLst>
              <a:path w="464718" h="471578">
                <a:moveTo>
                  <a:pt x="0" y="0"/>
                </a:moveTo>
                <a:lnTo>
                  <a:pt x="464719" y="0"/>
                </a:lnTo>
                <a:lnTo>
                  <a:pt x="464719" y="471577"/>
                </a:lnTo>
                <a:lnTo>
                  <a:pt x="0" y="47157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21"/>
          <p:cNvSpPr txBox="1"/>
          <p:nvPr/>
        </p:nvSpPr>
        <p:spPr>
          <a:xfrm>
            <a:off x="3524250" y="885825"/>
            <a:ext cx="11239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id="22" name="TextBox 22"/>
          <p:cNvSpPr txBox="1"/>
          <p:nvPr/>
        </p:nvSpPr>
        <p:spPr>
          <a:xfrm rot="-763663">
            <a:off x="1715839" y="5467589"/>
            <a:ext cx="2923575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1899" u="none" strike="noStrik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rowdfunding success on Kickstarter depends on goal amount, category, timing, and geography</a:t>
            </a:r>
          </a:p>
        </p:txBody>
      </p:sp>
      <p:sp>
        <p:nvSpPr>
          <p:cNvPr id="23" name="TextBox 23"/>
          <p:cNvSpPr txBox="1"/>
          <p:nvPr/>
        </p:nvSpPr>
        <p:spPr>
          <a:xfrm rot="-763663">
            <a:off x="2032122" y="4381920"/>
            <a:ext cx="154435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1675D5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 rot="-346450">
            <a:off x="5691343" y="4814777"/>
            <a:ext cx="2681642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Projects with realistic goals and strong category fit perform significantly better</a:t>
            </a:r>
          </a:p>
        </p:txBody>
      </p:sp>
      <p:sp>
        <p:nvSpPr>
          <p:cNvPr id="25" name="TextBox 25"/>
          <p:cNvSpPr txBox="1"/>
          <p:nvPr/>
        </p:nvSpPr>
        <p:spPr>
          <a:xfrm rot="-346450">
            <a:off x="6166868" y="3654884"/>
            <a:ext cx="154435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1A2B1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 rot="345068">
            <a:off x="9864412" y="4815861"/>
            <a:ext cx="2713486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899" u="none" strike="noStrik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ata-driven analysis helps creators reduce risk and make better launch decisions</a:t>
            </a:r>
          </a:p>
        </p:txBody>
      </p:sp>
      <p:sp>
        <p:nvSpPr>
          <p:cNvPr id="27" name="TextBox 27"/>
          <p:cNvSpPr txBox="1"/>
          <p:nvPr/>
        </p:nvSpPr>
        <p:spPr>
          <a:xfrm rot="345068">
            <a:off x="10643107" y="3650334"/>
            <a:ext cx="154435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27C276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 rot="974850">
            <a:off x="13766954" y="5683124"/>
            <a:ext cx="2968331" cy="160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project showcases end-to-end Data Analyst skills from raw data to actionable insights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endParaRPr lang="en-US" sz="1899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" name="TextBox 29"/>
          <p:cNvSpPr txBox="1"/>
          <p:nvPr/>
        </p:nvSpPr>
        <p:spPr>
          <a:xfrm rot="974850">
            <a:off x="14976813" y="4519263"/>
            <a:ext cx="1544357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FBE24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id="30" name="Freeform 30"/>
          <p:cNvSpPr/>
          <p:nvPr/>
        </p:nvSpPr>
        <p:spPr>
          <a:xfrm rot="971999">
            <a:off x="14436324" y="8467658"/>
            <a:ext cx="403003" cy="521533"/>
          </a:xfrm>
          <a:custGeom>
            <a:avLst/>
            <a:gdLst/>
            <a:ahLst/>
            <a:cxnLst/>
            <a:rect l="l" t="t" r="r" b="b"/>
            <a:pathLst>
              <a:path w="403003" h="521533">
                <a:moveTo>
                  <a:pt x="0" y="0"/>
                </a:moveTo>
                <a:lnTo>
                  <a:pt x="403002" y="0"/>
                </a:lnTo>
                <a:lnTo>
                  <a:pt x="403002" y="521532"/>
                </a:lnTo>
                <a:lnTo>
                  <a:pt x="0" y="52153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2172" y="-668293"/>
            <a:ext cx="2446436" cy="4114800"/>
          </a:xfrm>
          <a:custGeom>
            <a:avLst/>
            <a:gdLst/>
            <a:ahLst/>
            <a:cxnLst/>
            <a:rect l="l" t="t" r="r" b="b"/>
            <a:pathLst>
              <a:path w="2446436" h="4114800">
                <a:moveTo>
                  <a:pt x="0" y="0"/>
                </a:moveTo>
                <a:lnTo>
                  <a:pt x="2446436" y="0"/>
                </a:lnTo>
                <a:lnTo>
                  <a:pt x="2446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64009" y="6950278"/>
            <a:ext cx="2423991" cy="4114800"/>
          </a:xfrm>
          <a:custGeom>
            <a:avLst/>
            <a:gdLst/>
            <a:ahLst/>
            <a:cxnLst/>
            <a:rect l="l" t="t" r="r" b="b"/>
            <a:pathLst>
              <a:path w="2423991" h="4114800">
                <a:moveTo>
                  <a:pt x="0" y="0"/>
                </a:moveTo>
                <a:lnTo>
                  <a:pt x="2423991" y="0"/>
                </a:lnTo>
                <a:lnTo>
                  <a:pt x="24239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93156" y="0"/>
            <a:ext cx="11009614" cy="10362799"/>
          </a:xfrm>
          <a:custGeom>
            <a:avLst/>
            <a:gdLst/>
            <a:ahLst/>
            <a:cxnLst/>
            <a:rect l="l" t="t" r="r" b="b"/>
            <a:pathLst>
              <a:path w="11009614" h="10362799">
                <a:moveTo>
                  <a:pt x="0" y="0"/>
                </a:moveTo>
                <a:lnTo>
                  <a:pt x="11009613" y="0"/>
                </a:lnTo>
                <a:lnTo>
                  <a:pt x="11009613" y="10362799"/>
                </a:lnTo>
                <a:lnTo>
                  <a:pt x="0" y="1036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58710" y="4778244"/>
            <a:ext cx="10317538" cy="264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1"/>
              </a:lnSpc>
            </a:pPr>
            <a:r>
              <a:rPr lang="en-US" sz="17003" dirty="0">
                <a:solidFill>
                  <a:srgbClr val="22423D"/>
                </a:solidFill>
                <a:latin typeface="Moontime"/>
                <a:ea typeface="Moontime"/>
                <a:cs typeface="Moontime"/>
                <a:sym typeface="Moontime"/>
              </a:rPr>
              <a:t>Thank</a:t>
            </a:r>
          </a:p>
          <a:p>
            <a:pPr algn="ctr">
              <a:lnSpc>
                <a:spcPts val="9011"/>
              </a:lnSpc>
            </a:pPr>
            <a:r>
              <a:rPr lang="en-US" sz="17003" dirty="0">
                <a:solidFill>
                  <a:srgbClr val="22423D"/>
                </a:solidFill>
                <a:latin typeface="Moontime"/>
                <a:ea typeface="Moontime"/>
                <a:cs typeface="Moontime"/>
                <a:sym typeface="Moontime"/>
              </a:rPr>
              <a:t>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685</Words>
  <Application>Microsoft Office PowerPoint</Application>
  <PresentationFormat>Custom</PresentationFormat>
  <Paragraphs>154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DM Sans</vt:lpstr>
      <vt:lpstr>Calibri</vt:lpstr>
      <vt:lpstr>Arial</vt:lpstr>
      <vt:lpstr>Raleway Medium</vt:lpstr>
      <vt:lpstr>DM Sans Bold</vt:lpstr>
      <vt:lpstr>Moontime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historical Kickstarter data to understand why projects succeed or fail. Focuses on goal amount, category, timing, and other key factors to improve success rates.</dc:title>
  <dc:creator>Abhishek Deshmukh</dc:creator>
  <cp:lastModifiedBy>Bhavna Deshmukh</cp:lastModifiedBy>
  <cp:revision>25</cp:revision>
  <dcterms:created xsi:type="dcterms:W3CDTF">2006-08-16T00:00:00Z</dcterms:created>
  <dcterms:modified xsi:type="dcterms:W3CDTF">2026-02-05T10:07:34Z</dcterms:modified>
  <dc:identifier>DAG_4NA2MIg</dc:identifier>
</cp:coreProperties>
</file>